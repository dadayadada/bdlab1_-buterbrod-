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98" r:id="rId2"/>
  </p:sldMasterIdLst>
  <p:notesMasterIdLst>
    <p:notesMasterId r:id="rId15"/>
  </p:notesMasterIdLst>
  <p:handoutMasterIdLst>
    <p:handoutMasterId r:id="rId16"/>
  </p:handoutMasterIdLst>
  <p:sldIdLst>
    <p:sldId id="265" r:id="rId3"/>
    <p:sldId id="257" r:id="rId4"/>
    <p:sldId id="268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3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0A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15" autoAdjust="0"/>
    <p:restoredTop sz="94672" autoAdjust="0"/>
  </p:normalViewPr>
  <p:slideViewPr>
    <p:cSldViewPr snapToGrid="0" snapToObjects="1" showGuides="1">
      <p:cViewPr varScale="1">
        <p:scale>
          <a:sx n="128" d="100"/>
          <a:sy n="128" d="100"/>
        </p:scale>
        <p:origin x="744" y="60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8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Редактируемый элемент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79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Город и год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2926326"/>
            <a:ext cx="6400800" cy="705749"/>
          </a:xfrm>
        </p:spPr>
        <p:txBody>
          <a:bodyPr anchor="b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3637205"/>
            <a:ext cx="6400800" cy="46290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ru-RU" dirty="0"/>
              <a:t>Имя и контактные данные автора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4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4693" y="997421"/>
            <a:ext cx="5965438" cy="1488969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697" y="2571750"/>
            <a:ext cx="5965825" cy="165258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1600"/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ru-RU" dirty="0"/>
              <a:t>Имя и контактные данные автора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41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140" y="927382"/>
            <a:ext cx="2713244" cy="1644368"/>
          </a:xfrm>
        </p:spPr>
        <p:txBody>
          <a:bodyPr anchor="t" anchorCtr="0">
            <a:normAutofit/>
          </a:bodyPr>
          <a:lstStyle>
            <a:lvl1pPr>
              <a:defRPr sz="2800" baseline="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Место для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82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457200" y="2010279"/>
            <a:ext cx="8229600" cy="620483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Спасибо за внимание!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787704"/>
            <a:ext cx="8229600" cy="594122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FontTx/>
              <a:buNone/>
              <a:defRPr>
                <a:solidFill>
                  <a:srgbClr val="FFFFFF"/>
                </a:solidFill>
              </a:defRPr>
            </a:lvl2pPr>
            <a:lvl3pPr marL="914400" indent="0" algn="ctr">
              <a:buFontTx/>
              <a:buNone/>
              <a:defRPr>
                <a:solidFill>
                  <a:srgbClr val="FFFFFF"/>
                </a:solidFill>
              </a:defRPr>
            </a:lvl3pPr>
            <a:lvl4pPr marL="1371600" indent="0" algn="ctr">
              <a:buFontTx/>
              <a:buNone/>
              <a:defRPr>
                <a:solidFill>
                  <a:srgbClr val="FFFFFF"/>
                </a:solidFill>
              </a:defRPr>
            </a:lvl4pPr>
            <a:lvl5pPr marL="1828800" indent="0" algn="ctr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ru-RU" dirty="0"/>
              <a:t>Контактные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22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46133"/>
            <a:ext cx="6273934" cy="284849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28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9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5659438" y="1759744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8" y="3288506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498"/>
            <a:ext cx="8229600" cy="620315"/>
          </a:xfrm>
        </p:spPr>
        <p:txBody>
          <a:bodyPr/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302546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457201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8"/>
          </p:nvPr>
        </p:nvSpPr>
        <p:spPr>
          <a:xfrm>
            <a:off x="3276149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6097917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8" name="Text Placehold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1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9" name="Text Placeholder 24"/>
          <p:cNvSpPr>
            <a:spLocks noGrp="1"/>
          </p:cNvSpPr>
          <p:nvPr>
            <p:ph type="body" sz="quarter" idx="24" hasCustomPrompt="1"/>
          </p:nvPr>
        </p:nvSpPr>
        <p:spPr>
          <a:xfrm>
            <a:off x="3275819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30" name="Text Placeholder 24"/>
          <p:cNvSpPr>
            <a:spLocks noGrp="1"/>
          </p:cNvSpPr>
          <p:nvPr>
            <p:ph type="body" sz="quarter" idx="25" hasCustomPrompt="1"/>
          </p:nvPr>
        </p:nvSpPr>
        <p:spPr>
          <a:xfrm>
            <a:off x="6085706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3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9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9" y="1770130"/>
            <a:ext cx="3036565" cy="2919036"/>
          </a:xfrm>
          <a:custGeom>
            <a:avLst/>
            <a:gdLst>
              <a:gd name="connsiteX0" fmla="*/ 0 w 3027362"/>
              <a:gd name="connsiteY0" fmla="*/ 0 h 1885950"/>
              <a:gd name="connsiteX1" fmla="*/ 2528981 w 3027362"/>
              <a:gd name="connsiteY1" fmla="*/ 0 h 1885950"/>
              <a:gd name="connsiteX2" fmla="*/ 3027362 w 3027362"/>
              <a:gd name="connsiteY2" fmla="*/ 498381 h 1885950"/>
              <a:gd name="connsiteX3" fmla="*/ 3027362 w 3027362"/>
              <a:gd name="connsiteY3" fmla="*/ 1885950 h 1885950"/>
              <a:gd name="connsiteX4" fmla="*/ 0 w 3027362"/>
              <a:gd name="connsiteY4" fmla="*/ 1885950 h 1885950"/>
              <a:gd name="connsiteX5" fmla="*/ 0 w 3027362"/>
              <a:gd name="connsiteY5" fmla="*/ 0 h 1885950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0 w 3036565"/>
              <a:gd name="connsiteY4" fmla="*/ 1885950 h 3892048"/>
              <a:gd name="connsiteX5" fmla="*/ 0 w 3036565"/>
              <a:gd name="connsiteY5" fmla="*/ 0 h 3892048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9203 w 3036565"/>
              <a:gd name="connsiteY4" fmla="*/ 3892047 h 3892048"/>
              <a:gd name="connsiteX5" fmla="*/ 0 w 3036565"/>
              <a:gd name="connsiteY5" fmla="*/ 0 h 38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6565" h="3892048">
                <a:moveTo>
                  <a:pt x="0" y="0"/>
                </a:moveTo>
                <a:lnTo>
                  <a:pt x="2528981" y="0"/>
                </a:lnTo>
                <a:cubicBezTo>
                  <a:pt x="2804229" y="0"/>
                  <a:pt x="3027362" y="223133"/>
                  <a:pt x="3027362" y="498381"/>
                </a:cubicBezTo>
                <a:cubicBezTo>
                  <a:pt x="3030430" y="1629603"/>
                  <a:pt x="3033497" y="2760826"/>
                  <a:pt x="3036565" y="3892048"/>
                </a:cubicBezTo>
                <a:lnTo>
                  <a:pt x="9203" y="3892047"/>
                </a:lnTo>
                <a:cubicBezTo>
                  <a:pt x="6135" y="2594698"/>
                  <a:pt x="3068" y="1297349"/>
                  <a:pt x="0" y="0"/>
                </a:cubicBez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1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8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329462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International Students and Scholars Rock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6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7" r:id="rId2"/>
    <p:sldLayoutId id="2147483692" r:id="rId3"/>
    <p:sldLayoutId id="2147483686" r:id="rId4"/>
    <p:sldLayoutId id="2147483689" r:id="rId5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8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0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104557"/>
            <a:ext cx="6400800" cy="705749"/>
          </a:xfrm>
        </p:spPr>
        <p:txBody>
          <a:bodyPr>
            <a:normAutofit fontScale="90000"/>
          </a:bodyPr>
          <a:lstStyle/>
          <a:p>
            <a:r>
              <a:rPr lang="ru-RU" sz="4000" spc="-20" dirty="0"/>
              <a:t>Проектирование</a:t>
            </a:r>
            <a:r>
              <a:rPr lang="ru-RU" sz="4000" spc="-160" dirty="0"/>
              <a:t> </a:t>
            </a:r>
            <a:r>
              <a:rPr lang="ru-RU" sz="4000" spc="-10" dirty="0"/>
              <a:t>функциональной </a:t>
            </a:r>
            <a:r>
              <a:rPr lang="ru-RU" sz="4000" spc="-20" dirty="0"/>
              <a:t>модели</a:t>
            </a:r>
            <a:r>
              <a:rPr lang="ru-RU" sz="4000" spc="-204" dirty="0"/>
              <a:t> </a:t>
            </a:r>
            <a:r>
              <a:rPr lang="ru-RU" sz="4000" spc="-25" dirty="0"/>
              <a:t>АИС</a:t>
            </a:r>
            <a:endParaRPr lang="en-US" sz="40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0" y="3125514"/>
            <a:ext cx="6400800" cy="462905"/>
          </a:xfrm>
        </p:spPr>
        <p:txBody>
          <a:bodyPr>
            <a:noAutofit/>
          </a:bodyPr>
          <a:lstStyle/>
          <a:p>
            <a:pPr marL="12700" algn="l">
              <a:lnSpc>
                <a:spcPct val="100000"/>
              </a:lnSpc>
              <a:spcBef>
                <a:spcPts val="1095"/>
              </a:spcBef>
            </a:pPr>
            <a:r>
              <a:rPr lang="ru-RU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Команда:</a:t>
            </a:r>
            <a:r>
              <a:rPr lang="ru-RU" sz="11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Бутерброд</a:t>
            </a:r>
            <a:endParaRPr lang="ru-RU" sz="11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994"/>
              </a:spcBef>
            </a:pPr>
            <a:r>
              <a:rPr lang="ru-RU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Авторы: Ковалев Руслан </a:t>
            </a:r>
          </a:p>
          <a:p>
            <a:pPr marL="12700" algn="l">
              <a:lnSpc>
                <a:spcPct val="100000"/>
              </a:lnSpc>
              <a:spcBef>
                <a:spcPts val="994"/>
              </a:spcBef>
            </a:pPr>
            <a:r>
              <a:rPr lang="ru-RU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Дерягин Иван </a:t>
            </a:r>
            <a:endParaRPr lang="ru-RU" sz="11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1010"/>
              </a:spcBef>
            </a:pPr>
            <a:r>
              <a:rPr lang="ru-RU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Преподаватель:</a:t>
            </a:r>
            <a:r>
              <a:rPr lang="ru-RU" sz="11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Говорова</a:t>
            </a:r>
            <a:r>
              <a:rPr lang="ru-RU" sz="11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1100" dirty="0">
                <a:solidFill>
                  <a:srgbClr val="FFFFFF"/>
                </a:solidFill>
                <a:latin typeface="Times New Roman"/>
                <a:cs typeface="Times New Roman"/>
              </a:rPr>
              <a:t>Марина</a:t>
            </a:r>
            <a:r>
              <a:rPr lang="ru-RU" sz="11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Михайловна</a:t>
            </a:r>
            <a:endParaRPr lang="nl-NL" sz="1100" dirty="0"/>
          </a:p>
          <a:p>
            <a:pPr algn="l"/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62FAF-A30A-72F3-1245-71C0B74F94EE}"/>
              </a:ext>
            </a:extLst>
          </p:cNvPr>
          <p:cNvSpPr txBox="1"/>
          <p:nvPr/>
        </p:nvSpPr>
        <p:spPr>
          <a:xfrm>
            <a:off x="2162836" y="27561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Интернет-магазина украшений “</a:t>
            </a:r>
            <a:r>
              <a:rPr lang="en-US" dirty="0">
                <a:solidFill>
                  <a:schemeClr val="bg1"/>
                </a:solidFill>
              </a:rPr>
              <a:t>Sapfire Leaf”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636" y="703990"/>
            <a:ext cx="5965438" cy="148896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200" spc="-10" dirty="0"/>
              <a:t>Предметная</a:t>
            </a:r>
            <a:r>
              <a:rPr lang="ru-RU" sz="2200" spc="-120" dirty="0"/>
              <a:t> </a:t>
            </a:r>
            <a:r>
              <a:rPr lang="ru-RU" sz="2200" dirty="0">
                <a:solidFill>
                  <a:srgbClr val="0230AC"/>
                </a:solidFill>
              </a:rPr>
              <a:t>область</a:t>
            </a:r>
            <a:r>
              <a:rPr lang="ru-RU" sz="2200" dirty="0"/>
              <a:t>: </a:t>
            </a:r>
            <a:br>
              <a:rPr lang="ru-RU" sz="2200" dirty="0"/>
            </a:br>
            <a:r>
              <a:rPr lang="ru-RU" sz="2200" b="1" dirty="0"/>
              <a:t>Интернет - магазин украшений  “</a:t>
            </a:r>
            <a:r>
              <a:rPr lang="en-US" sz="2200" b="1" dirty="0"/>
              <a:t>Sapfire Leaf”</a:t>
            </a:r>
            <a:br>
              <a:rPr lang="en-US" dirty="0"/>
            </a:br>
            <a:br>
              <a:rPr lang="en-US" dirty="0"/>
            </a:b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1324215"/>
            <a:ext cx="8994710" cy="3374681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rgbClr val="000000"/>
                </a:solidFill>
              </a:rPr>
              <a:t>Юридическое лицо, представляющее собой небольшой интернет магазин.</a:t>
            </a:r>
          </a:p>
          <a:p>
            <a:endParaRPr lang="ru-RU" dirty="0">
              <a:solidFill>
                <a:srgbClr val="000000"/>
              </a:solidFill>
            </a:endParaRPr>
          </a:p>
          <a:p>
            <a:r>
              <a:rPr lang="ru-RU" b="1" dirty="0">
                <a:solidFill>
                  <a:srgbClr val="000000"/>
                </a:solidFill>
              </a:rPr>
              <a:t>В услуги компании входят:</a:t>
            </a:r>
            <a:endParaRPr lang="ru-RU" dirty="0">
              <a:solidFill>
                <a:srgbClr val="000000"/>
              </a:solidFill>
            </a:endParaRPr>
          </a:p>
          <a:p>
            <a:r>
              <a:rPr lang="ru-RU" dirty="0">
                <a:solidFill>
                  <a:srgbClr val="000000"/>
                </a:solidFill>
              </a:rPr>
              <a:t>Продажа готовых товаров</a:t>
            </a:r>
          </a:p>
          <a:p>
            <a:r>
              <a:rPr lang="ru-RU" dirty="0">
                <a:solidFill>
                  <a:srgbClr val="000000"/>
                </a:solidFill>
              </a:rPr>
              <a:t>Изготовление уникальной продукции под заказ</a:t>
            </a:r>
          </a:p>
          <a:p>
            <a:r>
              <a:rPr lang="ru-RU" dirty="0">
                <a:solidFill>
                  <a:srgbClr val="000000"/>
                </a:solidFill>
              </a:rPr>
              <a:t>Консультация клиентов по индивидуальным заказам</a:t>
            </a:r>
          </a:p>
          <a:p>
            <a:endParaRPr lang="ru-RU" dirty="0">
              <a:solidFill>
                <a:srgbClr val="000000"/>
              </a:solidFill>
            </a:endParaRPr>
          </a:p>
          <a:p>
            <a:r>
              <a:rPr lang="ru-RU" b="1" dirty="0">
                <a:solidFill>
                  <a:srgbClr val="000000"/>
                </a:solidFill>
              </a:rPr>
              <a:t>Ключевые роли и обязанности:</a:t>
            </a:r>
            <a:endParaRPr lang="ru-RU" dirty="0">
              <a:solidFill>
                <a:srgbClr val="000000"/>
              </a:solidFill>
            </a:endParaRPr>
          </a:p>
          <a:p>
            <a:r>
              <a:rPr lang="ru-RU" dirty="0">
                <a:solidFill>
                  <a:srgbClr val="000000"/>
                </a:solidFill>
              </a:rPr>
              <a:t>Н (Менеджер по продажам и маркетингу): отвечает за клиентский сервис, оформление страницы, прием платежей и организацию доставки.</a:t>
            </a:r>
          </a:p>
          <a:p>
            <a:r>
              <a:rPr lang="ru-RU" dirty="0">
                <a:solidFill>
                  <a:srgbClr val="000000"/>
                </a:solidFill>
              </a:rPr>
              <a:t>А (Мастер-изготовитель и закупщик): отвечает за производство украшений (как по индивидуальным заказам, так и для ассортимента), а также за закупку материалов.</a:t>
            </a:r>
          </a:p>
          <a:p>
            <a:endParaRPr lang="ru-RU" dirty="0">
              <a:solidFill>
                <a:srgbClr val="000000"/>
              </a:solidFill>
            </a:endParaRPr>
          </a:p>
          <a:p>
            <a:r>
              <a:rPr lang="ru-RU" b="1" dirty="0">
                <a:solidFill>
                  <a:srgbClr val="000000"/>
                </a:solidFill>
              </a:rPr>
              <a:t>Проблема:</a:t>
            </a:r>
            <a:r>
              <a:rPr lang="ru-RU" dirty="0">
                <a:solidFill>
                  <a:srgbClr val="000000"/>
                </a:solidFill>
              </a:rPr>
              <a:t> Неавтоматизированное и децентрализованное управление заказами, клиентами и коммуникацией между сотрудниками.</a:t>
            </a:r>
          </a:p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064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03B059-E3B2-3AEA-F8CD-7C7FA1123D95}"/>
              </a:ext>
            </a:extLst>
          </p:cNvPr>
          <p:cNvSpPr txBox="1"/>
          <p:nvPr/>
        </p:nvSpPr>
        <p:spPr>
          <a:xfrm>
            <a:off x="2354580" y="510540"/>
            <a:ext cx="4434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0230AC"/>
                </a:solidFill>
              </a:rPr>
              <a:t>Цель</a:t>
            </a:r>
            <a:r>
              <a:rPr lang="ru-RU" sz="2000" b="1" spc="-5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и</a:t>
            </a:r>
            <a:r>
              <a:rPr lang="ru-RU" sz="2000" b="1" spc="-60" dirty="0">
                <a:solidFill>
                  <a:srgbClr val="0230AC"/>
                </a:solidFill>
              </a:rPr>
              <a:t> </a:t>
            </a:r>
            <a:r>
              <a:rPr lang="ru-RU" sz="2000" b="1" spc="-10" dirty="0">
                <a:solidFill>
                  <a:srgbClr val="0230AC"/>
                </a:solidFill>
              </a:rPr>
              <a:t>основные</a:t>
            </a:r>
            <a:r>
              <a:rPr lang="ru-RU" sz="2000" b="1" spc="-60" dirty="0">
                <a:solidFill>
                  <a:srgbClr val="0230AC"/>
                </a:solidFill>
              </a:rPr>
              <a:t> </a:t>
            </a:r>
            <a:r>
              <a:rPr lang="ru-RU" sz="2000" b="1" spc="-10" dirty="0">
                <a:solidFill>
                  <a:srgbClr val="0230AC"/>
                </a:solidFill>
              </a:rPr>
              <a:t>задачи</a:t>
            </a:r>
            <a:endParaRPr lang="ru-RU" sz="2000" b="1" dirty="0">
              <a:solidFill>
                <a:srgbClr val="0230A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905435-4D64-63C6-05DA-F43FB7EC6335}"/>
              </a:ext>
            </a:extLst>
          </p:cNvPr>
          <p:cNvSpPr txBox="1"/>
          <p:nvPr/>
        </p:nvSpPr>
        <p:spPr>
          <a:xfrm>
            <a:off x="198120" y="1177290"/>
            <a:ext cx="8835390" cy="3549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lang="ru-RU" sz="1400" b="1" dirty="0">
                <a:solidFill>
                  <a:srgbClr val="24292B"/>
                </a:solidFill>
                <a:latin typeface="+mj-lt"/>
                <a:cs typeface="Times New Roman"/>
              </a:rPr>
              <a:t>Цель:</a:t>
            </a:r>
            <a:r>
              <a:rPr lang="ru-RU" sz="1400" b="1" spc="-75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разработка</a:t>
            </a:r>
            <a:r>
              <a:rPr lang="ru-RU" sz="1400" spc="-7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функциональной</a:t>
            </a:r>
            <a:r>
              <a:rPr lang="ru-RU" sz="1400" spc="-7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модели</a:t>
            </a:r>
            <a:r>
              <a:rPr lang="ru-RU" sz="1400" spc="-7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АИС,</a:t>
            </a:r>
            <a:r>
              <a:rPr lang="ru-RU" sz="1400" spc="-8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spc="-20" dirty="0">
                <a:solidFill>
                  <a:srgbClr val="24292B"/>
                </a:solidFill>
                <a:latin typeface="+mj-lt"/>
                <a:cs typeface="Times New Roman"/>
              </a:rPr>
              <a:t>автоматизирующей</a:t>
            </a:r>
            <a:r>
              <a:rPr lang="ru-RU" sz="1400" spc="-7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4292B"/>
                </a:solidFill>
                <a:latin typeface="+mj-lt"/>
                <a:cs typeface="Times New Roman"/>
              </a:rPr>
              <a:t>основные</a:t>
            </a:r>
            <a:endParaRPr lang="ru-RU" sz="1400" dirty="0">
              <a:latin typeface="+mj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ru-RU" sz="1400" spc="-10" dirty="0">
                <a:solidFill>
                  <a:srgbClr val="24292B"/>
                </a:solidFill>
                <a:latin typeface="+mj-lt"/>
                <a:cs typeface="Times New Roman"/>
              </a:rPr>
              <a:t>бизнес-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процессы</a:t>
            </a:r>
            <a:r>
              <a:rPr lang="ru-RU" sz="1400" spc="5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4292B"/>
                </a:solidFill>
                <a:latin typeface="+mj-lt"/>
                <a:cs typeface="Times New Roman"/>
              </a:rPr>
              <a:t>магазина</a:t>
            </a:r>
            <a:endParaRPr lang="ru-RU" sz="1400" dirty="0">
              <a:latin typeface="+mj-lt"/>
              <a:cs typeface="Times New Roman"/>
            </a:endParaRPr>
          </a:p>
          <a:p>
            <a:pPr marL="36830">
              <a:lnSpc>
                <a:spcPct val="100000"/>
              </a:lnSpc>
              <a:spcBef>
                <a:spcPts val="780"/>
              </a:spcBef>
            </a:pPr>
            <a:r>
              <a:rPr lang="ru-RU" sz="1400" b="1" spc="-10" dirty="0">
                <a:solidFill>
                  <a:srgbClr val="252525"/>
                </a:solidFill>
                <a:latin typeface="+mj-lt"/>
                <a:cs typeface="Times New Roman"/>
              </a:rPr>
              <a:t>Задачи:</a:t>
            </a:r>
            <a:endParaRPr lang="ru-RU" sz="1400" dirty="0">
              <a:latin typeface="+mj-lt"/>
              <a:cs typeface="Times New Roman"/>
            </a:endParaRPr>
          </a:p>
          <a:p>
            <a:pPr marL="1024890" indent="-50800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1024890" algn="l"/>
              </a:tabLst>
            </a:pPr>
            <a:r>
              <a:rPr lang="ru-RU" sz="1400" spc="-10" dirty="0">
                <a:latin typeface="+mj-lt"/>
                <a:cs typeface="Times New Roman"/>
              </a:rPr>
              <a:t>Определить</a:t>
            </a:r>
            <a:r>
              <a:rPr lang="ru-RU" sz="1400" spc="-85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назначение</a:t>
            </a:r>
            <a:r>
              <a:rPr lang="ru-RU" sz="1400" spc="-90" dirty="0">
                <a:latin typeface="+mj-lt"/>
                <a:cs typeface="Times New Roman"/>
              </a:rPr>
              <a:t> </a:t>
            </a:r>
            <a:r>
              <a:rPr lang="ru-RU" sz="1400" spc="-25" dirty="0">
                <a:latin typeface="+mj-lt"/>
                <a:cs typeface="Times New Roman"/>
              </a:rPr>
              <a:t>ИС</a:t>
            </a:r>
            <a:endParaRPr lang="ru-RU" sz="1400" dirty="0">
              <a:latin typeface="+mj-lt"/>
              <a:cs typeface="Times New Roman"/>
            </a:endParaRPr>
          </a:p>
          <a:p>
            <a:pPr marL="1024890" indent="-50800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1024890" algn="l"/>
              </a:tabLst>
            </a:pPr>
            <a:r>
              <a:rPr lang="ru-RU" sz="1400" dirty="0">
                <a:latin typeface="+mj-lt"/>
                <a:cs typeface="Times New Roman"/>
              </a:rPr>
              <a:t>Выделить</a:t>
            </a:r>
            <a:r>
              <a:rPr lang="ru-RU" sz="1400" spc="-3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основной</a:t>
            </a:r>
            <a:r>
              <a:rPr lang="ru-RU" sz="1400" spc="-4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процесс</a:t>
            </a:r>
            <a:r>
              <a:rPr lang="ru-RU" sz="1400" spc="-5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и</a:t>
            </a:r>
            <a:r>
              <a:rPr lang="ru-RU" sz="1400" spc="-4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внешние</a:t>
            </a:r>
            <a:r>
              <a:rPr lang="ru-RU" sz="1400" spc="-5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сущности</a:t>
            </a:r>
            <a:r>
              <a:rPr lang="ru-RU" sz="1400" spc="-6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по</a:t>
            </a:r>
            <a:r>
              <a:rPr lang="ru-RU" sz="1400" spc="-50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отношению</a:t>
            </a:r>
            <a:r>
              <a:rPr lang="ru-RU" sz="1400" spc="-3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к</a:t>
            </a:r>
            <a:r>
              <a:rPr lang="ru-RU" sz="1400" spc="-50" dirty="0">
                <a:latin typeface="+mj-lt"/>
                <a:cs typeface="Times New Roman"/>
              </a:rPr>
              <a:t> </a:t>
            </a:r>
            <a:r>
              <a:rPr lang="ru-RU" sz="1400" spc="-20" dirty="0">
                <a:latin typeface="+mj-lt"/>
                <a:cs typeface="Times New Roman"/>
              </a:rPr>
              <a:t>нему</a:t>
            </a:r>
            <a:endParaRPr lang="ru-RU" sz="1400" dirty="0">
              <a:latin typeface="+mj-lt"/>
              <a:cs typeface="Times New Roman"/>
            </a:endParaRPr>
          </a:p>
          <a:p>
            <a:pPr marL="1024890" indent="-508000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1024890" algn="l"/>
              </a:tabLst>
            </a:pPr>
            <a:r>
              <a:rPr lang="ru-RU" sz="1400" dirty="0">
                <a:latin typeface="+mj-lt"/>
                <a:cs typeface="Times New Roman"/>
              </a:rPr>
              <a:t>Выделить</a:t>
            </a:r>
            <a:r>
              <a:rPr lang="ru-RU" sz="1400" spc="-5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потоки</a:t>
            </a:r>
            <a:r>
              <a:rPr lang="ru-RU" sz="1400" spc="-4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для</a:t>
            </a:r>
            <a:r>
              <a:rPr lang="ru-RU" sz="1400" spc="-7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внешних</a:t>
            </a:r>
            <a:r>
              <a:rPr lang="ru-RU" sz="1400" spc="-4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сущностей</a:t>
            </a:r>
            <a:r>
              <a:rPr lang="ru-RU" sz="1400" spc="-8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по</a:t>
            </a:r>
            <a:r>
              <a:rPr lang="ru-RU" sz="1400" spc="-5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отношению</a:t>
            </a:r>
            <a:r>
              <a:rPr lang="ru-RU" sz="1400" spc="-4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к</a:t>
            </a:r>
            <a:r>
              <a:rPr lang="ru-RU" sz="1400" spc="-75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основному</a:t>
            </a:r>
            <a:endParaRPr lang="ru-RU" sz="1400" dirty="0">
              <a:latin typeface="+mj-lt"/>
              <a:cs typeface="Times New Roman"/>
            </a:endParaRPr>
          </a:p>
          <a:p>
            <a:pPr marL="1024890">
              <a:lnSpc>
                <a:spcPct val="100000"/>
              </a:lnSpc>
            </a:pPr>
            <a:r>
              <a:rPr lang="ru-RU" sz="1400" spc="-10" dirty="0">
                <a:latin typeface="+mj-lt"/>
                <a:cs typeface="Times New Roman"/>
              </a:rPr>
              <a:t>событию</a:t>
            </a:r>
            <a:endParaRPr lang="ru-RU" sz="1400" dirty="0">
              <a:latin typeface="+mj-lt"/>
              <a:cs typeface="Times New Roman"/>
            </a:endParaRPr>
          </a:p>
          <a:p>
            <a:pPr marL="1024890" indent="-508000">
              <a:lnSpc>
                <a:spcPct val="100000"/>
              </a:lnSpc>
              <a:spcBef>
                <a:spcPts val="994"/>
              </a:spcBef>
              <a:buAutoNum type="arabicPeriod" startAt="4"/>
              <a:tabLst>
                <a:tab pos="1024890" algn="l"/>
              </a:tabLst>
            </a:pPr>
            <a:r>
              <a:rPr lang="ru-RU" sz="1400" dirty="0">
                <a:latin typeface="+mj-lt"/>
                <a:cs typeface="Times New Roman"/>
              </a:rPr>
              <a:t>Составить</a:t>
            </a:r>
            <a:r>
              <a:rPr lang="ru-RU" sz="1400" spc="-25" dirty="0">
                <a:latin typeface="+mj-lt"/>
                <a:cs typeface="Times New Roman"/>
              </a:rPr>
              <a:t> </a:t>
            </a:r>
            <a:r>
              <a:rPr lang="ru-RU" sz="1400" spc="-20" dirty="0">
                <a:latin typeface="+mj-lt"/>
                <a:cs typeface="Times New Roman"/>
              </a:rPr>
              <a:t>контекстную</a:t>
            </a:r>
            <a:r>
              <a:rPr lang="ru-RU" sz="1400" spc="-7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диаграмму</a:t>
            </a:r>
            <a:r>
              <a:rPr lang="ru-RU" sz="1400" spc="-50" dirty="0">
                <a:latin typeface="+mj-lt"/>
                <a:cs typeface="Times New Roman"/>
              </a:rPr>
              <a:t> </a:t>
            </a:r>
            <a:r>
              <a:rPr lang="ru-RU" sz="1400" spc="-25" dirty="0">
                <a:latin typeface="+mj-lt"/>
                <a:cs typeface="Times New Roman"/>
              </a:rPr>
              <a:t>нулевого</a:t>
            </a:r>
            <a:r>
              <a:rPr lang="ru-RU" sz="1400" spc="-6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уровня</a:t>
            </a:r>
            <a:r>
              <a:rPr lang="ru-RU" sz="1400" spc="-7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(уровень</a:t>
            </a:r>
            <a:r>
              <a:rPr lang="ru-RU" sz="1400" spc="-65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А-</a:t>
            </a:r>
            <a:r>
              <a:rPr lang="ru-RU" sz="1400" spc="-25" dirty="0">
                <a:latin typeface="+mj-lt"/>
                <a:cs typeface="Times New Roman"/>
              </a:rPr>
              <a:t>0)</a:t>
            </a:r>
            <a:endParaRPr lang="ru-RU" sz="1400" dirty="0">
              <a:latin typeface="+mj-lt"/>
              <a:cs typeface="Times New Roman"/>
            </a:endParaRPr>
          </a:p>
          <a:p>
            <a:pPr marL="1024890" indent="-508000">
              <a:lnSpc>
                <a:spcPct val="100000"/>
              </a:lnSpc>
              <a:spcBef>
                <a:spcPts val="1010"/>
              </a:spcBef>
              <a:buAutoNum type="arabicPeriod" startAt="4"/>
              <a:tabLst>
                <a:tab pos="1024890" algn="l"/>
              </a:tabLst>
            </a:pPr>
            <a:r>
              <a:rPr lang="ru-RU" sz="1400" spc="-10" dirty="0">
                <a:latin typeface="+mj-lt"/>
                <a:cs typeface="Times New Roman"/>
              </a:rPr>
              <a:t>Проанализировать</a:t>
            </a:r>
            <a:r>
              <a:rPr lang="ru-RU" sz="1400" spc="-3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события</a:t>
            </a:r>
            <a:r>
              <a:rPr lang="ru-RU" sz="1400" spc="-30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(функции/работы/процессы),</a:t>
            </a:r>
            <a:r>
              <a:rPr lang="ru-RU" sz="1400" spc="-7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определить</a:t>
            </a:r>
            <a:r>
              <a:rPr lang="ru-RU" sz="1400" spc="-30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связи</a:t>
            </a:r>
            <a:endParaRPr lang="ru-RU" sz="1400" dirty="0">
              <a:latin typeface="+mj-lt"/>
              <a:cs typeface="Times New Roman"/>
            </a:endParaRPr>
          </a:p>
          <a:p>
            <a:pPr marL="1024890">
              <a:lnSpc>
                <a:spcPct val="100000"/>
              </a:lnSpc>
            </a:pPr>
            <a:r>
              <a:rPr lang="ru-RU" sz="1400" dirty="0">
                <a:latin typeface="+mj-lt"/>
                <a:cs typeface="Times New Roman"/>
              </a:rPr>
              <a:t>по</a:t>
            </a:r>
            <a:r>
              <a:rPr lang="ru-RU" sz="1400" spc="-80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потокам</a:t>
            </a:r>
            <a:r>
              <a:rPr lang="ru-RU" sz="1400" spc="-6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данных</a:t>
            </a:r>
            <a:r>
              <a:rPr lang="ru-RU" sz="1400" spc="-7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между</a:t>
            </a:r>
            <a:r>
              <a:rPr lang="ru-RU" sz="1400" spc="-80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сущностями,</a:t>
            </a:r>
            <a:r>
              <a:rPr lang="ru-RU" sz="1400" spc="-8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событиями,</a:t>
            </a:r>
            <a:r>
              <a:rPr lang="ru-RU" sz="1400" spc="-70" dirty="0">
                <a:latin typeface="+mj-lt"/>
                <a:cs typeface="Times New Roman"/>
              </a:rPr>
              <a:t> </a:t>
            </a:r>
            <a:r>
              <a:rPr lang="ru-RU" sz="1400" spc="-20" dirty="0">
                <a:latin typeface="+mj-lt"/>
                <a:cs typeface="Times New Roman"/>
              </a:rPr>
              <a:t>накопителями</a:t>
            </a:r>
            <a:r>
              <a:rPr lang="ru-RU" sz="1400" spc="-80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данных</a:t>
            </a:r>
            <a:endParaRPr lang="ru-RU" sz="1400" dirty="0">
              <a:latin typeface="+mj-lt"/>
              <a:cs typeface="Times New Roman"/>
            </a:endParaRPr>
          </a:p>
          <a:p>
            <a:pPr marL="1024890" indent="-508000">
              <a:lnSpc>
                <a:spcPct val="100000"/>
              </a:lnSpc>
              <a:spcBef>
                <a:spcPts val="1000"/>
              </a:spcBef>
              <a:buAutoNum type="arabicPeriod" startAt="6"/>
              <a:tabLst>
                <a:tab pos="1024890" algn="l"/>
              </a:tabLst>
            </a:pPr>
            <a:r>
              <a:rPr lang="ru-RU" sz="1400" dirty="0">
                <a:latin typeface="+mj-lt"/>
                <a:cs typeface="Times New Roman"/>
              </a:rPr>
              <a:t>Составить</a:t>
            </a:r>
            <a:r>
              <a:rPr lang="ru-RU" sz="1400" spc="-20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детализированную</a:t>
            </a:r>
            <a:r>
              <a:rPr lang="ru-RU" sz="1400" spc="-50" dirty="0">
                <a:latin typeface="+mj-lt"/>
                <a:cs typeface="Times New Roman"/>
              </a:rPr>
              <a:t> </a:t>
            </a:r>
            <a:r>
              <a:rPr lang="ru-RU" sz="1400" spc="-20" dirty="0">
                <a:latin typeface="+mj-lt"/>
                <a:cs typeface="Times New Roman"/>
              </a:rPr>
              <a:t>контекстную</a:t>
            </a:r>
            <a:r>
              <a:rPr lang="ru-RU" sz="1400" spc="-7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диаграмму</a:t>
            </a:r>
            <a:r>
              <a:rPr lang="ru-RU" sz="1400" spc="-45" dirty="0"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  <a:cs typeface="Times New Roman"/>
              </a:rPr>
              <a:t>(уровень</a:t>
            </a:r>
            <a:r>
              <a:rPr lang="ru-RU" sz="1400" spc="-70" dirty="0">
                <a:latin typeface="+mj-lt"/>
                <a:cs typeface="Times New Roman"/>
              </a:rPr>
              <a:t> </a:t>
            </a:r>
            <a:r>
              <a:rPr lang="ru-RU" sz="1400" spc="-25" dirty="0">
                <a:latin typeface="+mj-lt"/>
                <a:cs typeface="Times New Roman"/>
              </a:rPr>
              <a:t>А0)</a:t>
            </a:r>
            <a:endParaRPr lang="ru-RU" sz="1400" dirty="0">
              <a:latin typeface="+mj-lt"/>
              <a:cs typeface="Times New Roman"/>
            </a:endParaRPr>
          </a:p>
          <a:p>
            <a:endParaRPr lang="ru-RU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0475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80AF4-53D5-168E-0ED5-B9D53F2C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3B968-1B9B-941D-2AF2-168F64AD6D13}"/>
              </a:ext>
            </a:extLst>
          </p:cNvPr>
          <p:cNvSpPr txBox="1"/>
          <p:nvPr/>
        </p:nvSpPr>
        <p:spPr>
          <a:xfrm>
            <a:off x="2354580" y="510540"/>
            <a:ext cx="4434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spc="-10" dirty="0">
                <a:solidFill>
                  <a:srgbClr val="0230AC"/>
                </a:solidFill>
              </a:rPr>
              <a:t>Методы</a:t>
            </a:r>
            <a:r>
              <a:rPr lang="ru-RU" sz="2000" b="1" spc="-10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и</a:t>
            </a:r>
            <a:r>
              <a:rPr lang="ru-RU" sz="2000" b="1" spc="-11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средства</a:t>
            </a:r>
            <a:r>
              <a:rPr lang="ru-RU" sz="2000" b="1" spc="-95" dirty="0">
                <a:solidFill>
                  <a:srgbClr val="0230AC"/>
                </a:solidFill>
              </a:rPr>
              <a:t> </a:t>
            </a:r>
            <a:r>
              <a:rPr lang="ru-RU" sz="2000" b="1" spc="-10" dirty="0">
                <a:solidFill>
                  <a:srgbClr val="0230AC"/>
                </a:solidFill>
              </a:rPr>
              <a:t>реализации</a:t>
            </a:r>
            <a:endParaRPr lang="ru-RU" sz="2000" b="1" dirty="0">
              <a:solidFill>
                <a:srgbClr val="0230A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40C63-F8D7-702A-C943-13FF17A2A04D}"/>
              </a:ext>
            </a:extLst>
          </p:cNvPr>
          <p:cNvSpPr txBox="1"/>
          <p:nvPr/>
        </p:nvSpPr>
        <p:spPr>
          <a:xfrm>
            <a:off x="198120" y="1177290"/>
            <a:ext cx="8835390" cy="2364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b="1" spc="-10" dirty="0">
                <a:solidFill>
                  <a:srgbClr val="24292B"/>
                </a:solidFill>
                <a:latin typeface="+mj-lt"/>
                <a:cs typeface="Times New Roman"/>
              </a:rPr>
              <a:t>Методология:</a:t>
            </a:r>
            <a:r>
              <a:rPr lang="ru-RU" sz="1400" b="1" spc="-55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Функциональное</a:t>
            </a:r>
            <a:r>
              <a:rPr lang="ru-RU" sz="1400" spc="-6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spc="-20" dirty="0">
                <a:solidFill>
                  <a:srgbClr val="24292B"/>
                </a:solidFill>
                <a:latin typeface="+mj-lt"/>
                <a:cs typeface="Times New Roman"/>
              </a:rPr>
              <a:t>моделирование</a:t>
            </a:r>
            <a:r>
              <a:rPr lang="ru-RU" sz="1400" spc="-55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на</a:t>
            </a:r>
            <a:r>
              <a:rPr lang="ru-RU" sz="1400" spc="-65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основе</a:t>
            </a:r>
            <a:r>
              <a:rPr lang="ru-RU" sz="1400" spc="-6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spc="-25" dirty="0">
                <a:solidFill>
                  <a:srgbClr val="24292B"/>
                </a:solidFill>
                <a:latin typeface="+mj-lt"/>
                <a:cs typeface="Times New Roman"/>
              </a:rPr>
              <a:t>DFD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400" spc="-25" dirty="0">
              <a:latin typeface="+mj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b="1" dirty="0">
                <a:solidFill>
                  <a:srgbClr val="24292B"/>
                </a:solidFill>
                <a:latin typeface="+mj-lt"/>
                <a:cs typeface="Times New Roman"/>
              </a:rPr>
              <a:t>Стандарт:</a:t>
            </a:r>
            <a:r>
              <a:rPr lang="ru-RU" sz="1400" b="1" spc="-65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Нотация</a:t>
            </a:r>
            <a:r>
              <a:rPr lang="ru-RU" sz="1400" spc="-80" dirty="0">
                <a:solidFill>
                  <a:srgbClr val="24292B"/>
                </a:solidFill>
                <a:latin typeface="+mj-lt"/>
                <a:cs typeface="Times New Roman"/>
              </a:rPr>
              <a:t> Гейна-Сарсона</a:t>
            </a:r>
            <a:endParaRPr lang="ru-RU" sz="1400" spc="-10" dirty="0">
              <a:solidFill>
                <a:srgbClr val="24292B"/>
              </a:solidFill>
              <a:latin typeface="+mj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400" spc="-10" dirty="0">
              <a:solidFill>
                <a:srgbClr val="24292B"/>
              </a:solidFill>
              <a:latin typeface="+mj-lt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lang="ru-RU" sz="1400" b="1" spc="-25" dirty="0">
                <a:solidFill>
                  <a:srgbClr val="24292B"/>
                </a:solidFill>
                <a:latin typeface="+mj-lt"/>
                <a:cs typeface="Times New Roman"/>
              </a:rPr>
              <a:t>CASE-</a:t>
            </a:r>
            <a:r>
              <a:rPr lang="ru-RU" sz="1400" b="1" dirty="0">
                <a:solidFill>
                  <a:srgbClr val="24292B"/>
                </a:solidFill>
                <a:latin typeface="+mj-lt"/>
                <a:cs typeface="Times New Roman"/>
              </a:rPr>
              <a:t>средство:</a:t>
            </a:r>
            <a:r>
              <a:rPr lang="ru-RU" sz="1400" b="1" spc="-75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en-US" sz="1400" spc="-10" dirty="0">
                <a:solidFill>
                  <a:srgbClr val="24292B"/>
                </a:solidFill>
                <a:latin typeface="+mj-lt"/>
                <a:cs typeface="Times New Roman"/>
              </a:rPr>
              <a:t>Erwin Data modeler </a:t>
            </a:r>
            <a:endParaRPr lang="ru-RU" sz="1400" spc="-10" dirty="0">
              <a:solidFill>
                <a:srgbClr val="24292B"/>
              </a:solidFill>
              <a:latin typeface="+mj-lt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00"/>
              </a:spcBef>
            </a:pPr>
            <a:endParaRPr lang="ru-RU" sz="1400" dirty="0">
              <a:latin typeface="+mj-lt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lang="ru-RU" sz="1400" b="1" spc="-10" dirty="0">
                <a:solidFill>
                  <a:srgbClr val="24292B"/>
                </a:solidFill>
                <a:latin typeface="+mj-lt"/>
                <a:cs typeface="Times New Roman"/>
              </a:rPr>
              <a:t>Преимущества</a:t>
            </a:r>
            <a:r>
              <a:rPr lang="ru-RU" sz="1400" b="1" dirty="0">
                <a:solidFill>
                  <a:srgbClr val="24292B"/>
                </a:solidFill>
                <a:latin typeface="+mj-lt"/>
                <a:cs typeface="Times New Roman"/>
              </a:rPr>
              <a:t>	</a:t>
            </a:r>
            <a:r>
              <a:rPr lang="ru-RU" sz="1400" b="1" spc="-10" dirty="0">
                <a:solidFill>
                  <a:srgbClr val="24292B"/>
                </a:solidFill>
                <a:latin typeface="+mj-lt"/>
                <a:cs typeface="Times New Roman"/>
              </a:rPr>
              <a:t>подхода:</a:t>
            </a:r>
            <a:r>
              <a:rPr lang="ru-RU" sz="1400" b="1" dirty="0">
                <a:solidFill>
                  <a:srgbClr val="24292B"/>
                </a:solidFill>
                <a:latin typeface="+mj-lt"/>
                <a:cs typeface="Times New Roman"/>
              </a:rPr>
              <a:t>	</a:t>
            </a:r>
            <a:r>
              <a:rPr lang="ru-RU" sz="1400" spc="-10" dirty="0">
                <a:solidFill>
                  <a:srgbClr val="24292B"/>
                </a:solidFill>
                <a:latin typeface="+mj-lt"/>
                <a:cs typeface="Times New Roman"/>
              </a:rPr>
              <a:t>Наглядность,</a:t>
            </a:r>
            <a:r>
              <a:rPr lang="en-US" sz="1400" spc="-1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4292B"/>
                </a:solidFill>
                <a:latin typeface="+mj-lt"/>
                <a:cs typeface="Times New Roman"/>
              </a:rPr>
              <a:t>четкое</a:t>
            </a:r>
            <a:r>
              <a:rPr lang="en-US" sz="1400" spc="-10" dirty="0">
                <a:latin typeface="+mj-lt"/>
                <a:cs typeface="Times New Roman"/>
              </a:rPr>
              <a:t> </a:t>
            </a:r>
            <a:r>
              <a:rPr lang="ru-RU" sz="1400" spc="-10" dirty="0">
                <a:latin typeface="+mj-lt"/>
                <a:cs typeface="Times New Roman"/>
              </a:rPr>
              <a:t>разделение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процессов,</a:t>
            </a:r>
            <a:r>
              <a:rPr lang="ru-RU" sz="1400" spc="-55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эффективное</a:t>
            </a:r>
            <a:r>
              <a:rPr lang="ru-RU" sz="1400" spc="-65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4292B"/>
                </a:solidFill>
                <a:latin typeface="+mj-lt"/>
                <a:cs typeface="Times New Roman"/>
              </a:rPr>
              <a:t>взаимодействие</a:t>
            </a:r>
            <a:r>
              <a:rPr lang="ru-RU" sz="1400" spc="-3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4292B"/>
                </a:solidFill>
                <a:latin typeface="+mj-lt"/>
                <a:cs typeface="Times New Roman"/>
              </a:rPr>
              <a:t>с</a:t>
            </a:r>
            <a:r>
              <a:rPr lang="ru-RU" sz="1400" spc="-60" dirty="0">
                <a:solidFill>
                  <a:srgbClr val="24292B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4292B"/>
                </a:solidFill>
                <a:latin typeface="+mj-lt"/>
                <a:cs typeface="Times New Roman"/>
              </a:rPr>
              <a:t>заказчиком</a:t>
            </a:r>
            <a:endParaRPr lang="ru-RU" sz="1400" dirty="0">
              <a:latin typeface="+mj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endParaRPr lang="ru-RU" sz="1400" dirty="0">
              <a:latin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047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0848-8F64-12E1-50BB-58D541CF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13C0D1-56DE-D4C4-A39B-68DE3E233B0D}"/>
              </a:ext>
            </a:extLst>
          </p:cNvPr>
          <p:cNvSpPr txBox="1"/>
          <p:nvPr/>
        </p:nvSpPr>
        <p:spPr>
          <a:xfrm>
            <a:off x="2354580" y="510540"/>
            <a:ext cx="4434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0230AC"/>
                </a:solidFill>
              </a:rPr>
              <a:t>Задача</a:t>
            </a:r>
            <a:r>
              <a:rPr lang="ru-RU" sz="2000" b="1" spc="-12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№1:</a:t>
            </a:r>
            <a:r>
              <a:rPr lang="ru-RU" sz="2000" b="1" spc="-114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Назначение</a:t>
            </a:r>
            <a:r>
              <a:rPr lang="ru-RU" sz="2000" b="1" spc="-114" dirty="0">
                <a:solidFill>
                  <a:srgbClr val="0230AC"/>
                </a:solidFill>
              </a:rPr>
              <a:t> </a:t>
            </a:r>
            <a:r>
              <a:rPr lang="ru-RU" sz="2000" b="1" spc="-25" dirty="0">
                <a:solidFill>
                  <a:srgbClr val="0230AC"/>
                </a:solidFill>
              </a:rPr>
              <a:t>ИС</a:t>
            </a:r>
            <a:endParaRPr lang="ru-RU" sz="2000" b="1" dirty="0">
              <a:solidFill>
                <a:srgbClr val="0230A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85BDA5-A141-02B2-32EC-03B648A2AF2C}"/>
              </a:ext>
            </a:extLst>
          </p:cNvPr>
          <p:cNvSpPr txBox="1"/>
          <p:nvPr/>
        </p:nvSpPr>
        <p:spPr>
          <a:xfrm>
            <a:off x="154305" y="845820"/>
            <a:ext cx="883539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Назначение:</a:t>
            </a:r>
            <a:r>
              <a:rPr lang="ru-RU" sz="1400" dirty="0"/>
              <a:t> Автоматизация бизнес-процессов интернет-магазина товаров ручной работы.</a:t>
            </a:r>
          </a:p>
          <a:p>
            <a:endParaRPr lang="ru-RU" sz="1400" dirty="0"/>
          </a:p>
          <a:p>
            <a:r>
              <a:rPr lang="ru-RU" sz="1400" b="1" dirty="0"/>
              <a:t>Централизованное хранение данных</a:t>
            </a:r>
            <a:r>
              <a:rPr lang="ru-RU" sz="1400" dirty="0"/>
              <a:t> – единая база по клиентам, заказам, изделиям и материалам. </a:t>
            </a:r>
          </a:p>
          <a:p>
            <a:endParaRPr lang="ru-RU" sz="1400" dirty="0"/>
          </a:p>
          <a:p>
            <a:r>
              <a:rPr lang="ru-RU" sz="1400" b="1" dirty="0"/>
              <a:t>Формирование договоров и счетов об оплате</a:t>
            </a:r>
            <a:r>
              <a:rPr lang="ru-RU" sz="1400" dirty="0"/>
              <a:t> – автоматизация оформления финансовых документов для клиентов </a:t>
            </a:r>
          </a:p>
          <a:p>
            <a:endParaRPr lang="ru-RU" sz="1400" dirty="0"/>
          </a:p>
          <a:p>
            <a:r>
              <a:rPr lang="ru-RU" sz="1400" b="1" dirty="0"/>
              <a:t>Контроль этапов выполнения заказа</a:t>
            </a:r>
            <a:r>
              <a:rPr lang="ru-RU" sz="1400" dirty="0"/>
              <a:t> – от момента принятия заказа от клиента до его передачи в доставку</a:t>
            </a:r>
          </a:p>
          <a:p>
            <a:endParaRPr lang="ru-RU" sz="1400" dirty="0"/>
          </a:p>
          <a:p>
            <a:r>
              <a:rPr lang="ru-RU" sz="1400" b="1" dirty="0"/>
              <a:t>Управление ресурсами и задачами</a:t>
            </a:r>
            <a:r>
              <a:rPr lang="ru-RU" sz="1400" dirty="0"/>
              <a:t> – ведение учета остатков материалов для производства.</a:t>
            </a:r>
          </a:p>
          <a:p>
            <a:endParaRPr lang="ru-RU" sz="1400" dirty="0"/>
          </a:p>
          <a:p>
            <a:r>
              <a:rPr lang="ru-RU" sz="1400" b="1" dirty="0"/>
              <a:t>Финансовый учет</a:t>
            </a:r>
            <a:r>
              <a:rPr lang="ru-RU" sz="1400" dirty="0"/>
              <a:t> – автоматизированный расчет себестоимости изделий, отслеживание оплат от клиентов и расходов на материалы для формирования точной картины прибыльности бизнеса.</a:t>
            </a:r>
          </a:p>
        </p:txBody>
      </p:sp>
    </p:spTree>
    <p:extLst>
      <p:ext uri="{BB962C8B-B14F-4D97-AF65-F5344CB8AC3E}">
        <p14:creationId xmlns:p14="http://schemas.microsoft.com/office/powerpoint/2010/main" val="262646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97C7A-8297-1236-2424-795F5857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D34477-BA7C-C88E-6009-EB2C76910A7C}"/>
              </a:ext>
            </a:extLst>
          </p:cNvPr>
          <p:cNvSpPr txBox="1"/>
          <p:nvPr/>
        </p:nvSpPr>
        <p:spPr>
          <a:xfrm>
            <a:off x="2354580" y="510540"/>
            <a:ext cx="3554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0230AC"/>
                </a:solidFill>
              </a:rPr>
              <a:t>Задача</a:t>
            </a:r>
            <a:r>
              <a:rPr lang="ru-RU" sz="2000" b="1" spc="-8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№2:</a:t>
            </a:r>
            <a:r>
              <a:rPr lang="ru-RU" sz="2000" b="1" spc="-70" dirty="0">
                <a:solidFill>
                  <a:srgbClr val="0230AC"/>
                </a:solidFill>
              </a:rPr>
              <a:t> </a:t>
            </a:r>
            <a:r>
              <a:rPr lang="ru-RU" sz="2000" b="1" spc="-10" dirty="0">
                <a:solidFill>
                  <a:srgbClr val="0230AC"/>
                </a:solidFill>
              </a:rPr>
              <a:t>Основной</a:t>
            </a:r>
            <a:r>
              <a:rPr lang="ru-RU" sz="2000" b="1" spc="-5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процесс</a:t>
            </a:r>
            <a:r>
              <a:rPr lang="ru-RU" sz="2000" b="1" spc="-7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и</a:t>
            </a:r>
            <a:r>
              <a:rPr lang="ru-RU" sz="2000" b="1" spc="-7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внешние</a:t>
            </a:r>
            <a:r>
              <a:rPr lang="ru-RU" sz="2000" b="1" spc="-65" dirty="0">
                <a:solidFill>
                  <a:srgbClr val="0230AC"/>
                </a:solidFill>
              </a:rPr>
              <a:t> </a:t>
            </a:r>
            <a:r>
              <a:rPr lang="ru-RU" sz="2000" b="1" spc="-10" dirty="0">
                <a:solidFill>
                  <a:srgbClr val="0230AC"/>
                </a:solidFill>
              </a:rPr>
              <a:t>сущности</a:t>
            </a:r>
            <a:endParaRPr lang="ru-RU" sz="2000" b="1" dirty="0">
              <a:solidFill>
                <a:srgbClr val="0230A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CDA1A-8494-6F73-A5E6-8079475FAEF3}"/>
              </a:ext>
            </a:extLst>
          </p:cNvPr>
          <p:cNvSpPr txBox="1"/>
          <p:nvPr/>
        </p:nvSpPr>
        <p:spPr>
          <a:xfrm>
            <a:off x="127635" y="1218426"/>
            <a:ext cx="8835390" cy="214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b="1" dirty="0">
                <a:solidFill>
                  <a:srgbClr val="252525"/>
                </a:solidFill>
                <a:latin typeface="Times New Roman"/>
                <a:cs typeface="Times New Roman"/>
              </a:rPr>
              <a:t>Основной</a:t>
            </a:r>
            <a:r>
              <a:rPr lang="ru-RU" sz="1400" b="1" spc="-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1400" b="1" dirty="0">
                <a:solidFill>
                  <a:srgbClr val="252525"/>
                </a:solidFill>
                <a:latin typeface="Times New Roman"/>
                <a:cs typeface="Times New Roman"/>
              </a:rPr>
              <a:t>процесс:</a:t>
            </a:r>
            <a:r>
              <a:rPr lang="ru-RU" sz="1400" b="1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1400" spc="-20" dirty="0">
                <a:solidFill>
                  <a:srgbClr val="252525"/>
                </a:solidFill>
                <a:latin typeface="Times New Roman"/>
                <a:cs typeface="Times New Roman"/>
              </a:rPr>
              <a:t>изготовление</a:t>
            </a:r>
            <a:r>
              <a:rPr lang="ru-RU" sz="14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Times New Roman"/>
                <a:cs typeface="Times New Roman"/>
              </a:rPr>
              <a:t>заказа</a:t>
            </a:r>
            <a:r>
              <a:rPr lang="ru-RU" sz="1400" spc="-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Times New Roman"/>
                <a:cs typeface="Times New Roman"/>
              </a:rPr>
              <a:t>клиента</a:t>
            </a:r>
            <a:endParaRPr lang="ru-RU"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lang="ru-RU" sz="1400" b="1" dirty="0">
                <a:solidFill>
                  <a:srgbClr val="252525"/>
                </a:solidFill>
                <a:latin typeface="Times New Roman"/>
                <a:cs typeface="Times New Roman"/>
              </a:rPr>
              <a:t>Внешние</a:t>
            </a:r>
            <a:r>
              <a:rPr lang="ru-RU" sz="14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14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сущности:</a:t>
            </a:r>
            <a:endParaRPr lang="ru-RU" sz="1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525"/>
              </a:spcBef>
              <a:buClr>
                <a:srgbClr val="000000"/>
              </a:buClr>
              <a:buFont typeface="Courier New"/>
              <a:buChar char="o"/>
              <a:tabLst>
                <a:tab pos="240029" algn="l"/>
              </a:tabLst>
            </a:pPr>
            <a:r>
              <a:rPr lang="ru-RU" sz="1400" spc="-10" dirty="0">
                <a:solidFill>
                  <a:srgbClr val="252525"/>
                </a:solidFill>
                <a:latin typeface="Times New Roman"/>
                <a:cs typeface="Times New Roman"/>
              </a:rPr>
              <a:t>Клиент</a:t>
            </a:r>
            <a:endParaRPr lang="ru-RU" sz="1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Font typeface="Courier New"/>
              <a:buChar char="o"/>
              <a:tabLst>
                <a:tab pos="240029" algn="l"/>
              </a:tabLst>
            </a:pPr>
            <a:r>
              <a:rPr lang="ru-RU" sz="1400" spc="-10" dirty="0">
                <a:solidFill>
                  <a:srgbClr val="252525"/>
                </a:solidFill>
                <a:latin typeface="Times New Roman"/>
                <a:cs typeface="Times New Roman"/>
              </a:rPr>
              <a:t>Поставщик материалов</a:t>
            </a:r>
            <a:endParaRPr lang="ru-RU" sz="1400" spc="-2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Courier New"/>
              <a:buChar char="o"/>
              <a:tabLst>
                <a:tab pos="240029" algn="l"/>
              </a:tabLst>
            </a:pPr>
            <a:r>
              <a:rPr lang="ru-RU" sz="1400" dirty="0">
                <a:latin typeface="Times New Roman"/>
                <a:cs typeface="Times New Roman"/>
              </a:rPr>
              <a:t>Служба доставки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734272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FBAC-88F3-1CFA-DF19-5CB0A8DF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8145A0-2B88-282B-5A27-A62835B6E580}"/>
              </a:ext>
            </a:extLst>
          </p:cNvPr>
          <p:cNvSpPr txBox="1"/>
          <p:nvPr/>
        </p:nvSpPr>
        <p:spPr>
          <a:xfrm>
            <a:off x="1506855" y="560070"/>
            <a:ext cx="6130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spc="-10" dirty="0">
                <a:solidFill>
                  <a:srgbClr val="0230AC"/>
                </a:solidFill>
              </a:rPr>
              <a:t>Задача</a:t>
            </a:r>
            <a:r>
              <a:rPr lang="ru-RU" sz="2000" b="1" spc="-12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№3:</a:t>
            </a:r>
            <a:r>
              <a:rPr lang="ru-RU" sz="2000" b="1" spc="-10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потоки</a:t>
            </a:r>
            <a:r>
              <a:rPr lang="ru-RU" sz="2000" b="1" spc="-8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для</a:t>
            </a:r>
            <a:r>
              <a:rPr lang="ru-RU" sz="2000" b="1" spc="-10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внешних</a:t>
            </a:r>
            <a:r>
              <a:rPr lang="ru-RU" sz="2000" b="1" spc="-8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сущностей</a:t>
            </a:r>
            <a:r>
              <a:rPr lang="ru-RU" sz="2000" b="1" spc="-100" dirty="0">
                <a:solidFill>
                  <a:srgbClr val="0230AC"/>
                </a:solidFill>
              </a:rPr>
              <a:t> </a:t>
            </a:r>
            <a:r>
              <a:rPr lang="ru-RU" sz="2000" b="1" spc="-25" dirty="0">
                <a:solidFill>
                  <a:srgbClr val="0230AC"/>
                </a:solidFill>
              </a:rPr>
              <a:t>по </a:t>
            </a:r>
            <a:r>
              <a:rPr lang="ru-RU" sz="2000" b="1" spc="-10" dirty="0">
                <a:solidFill>
                  <a:srgbClr val="0230AC"/>
                </a:solidFill>
              </a:rPr>
              <a:t>отношению</a:t>
            </a:r>
            <a:r>
              <a:rPr lang="ru-RU" sz="2000" b="1" spc="-10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к</a:t>
            </a:r>
            <a:r>
              <a:rPr lang="ru-RU" sz="2000" b="1" spc="-105" dirty="0">
                <a:solidFill>
                  <a:srgbClr val="0230AC"/>
                </a:solidFill>
              </a:rPr>
              <a:t> </a:t>
            </a:r>
            <a:r>
              <a:rPr lang="ru-RU" sz="2000" b="1" spc="-10" dirty="0">
                <a:solidFill>
                  <a:srgbClr val="0230AC"/>
                </a:solidFill>
              </a:rPr>
              <a:t>основному</a:t>
            </a:r>
            <a:r>
              <a:rPr lang="ru-RU" sz="2000" b="1" spc="-95" dirty="0">
                <a:solidFill>
                  <a:srgbClr val="0230AC"/>
                </a:solidFill>
              </a:rPr>
              <a:t> </a:t>
            </a:r>
            <a:r>
              <a:rPr lang="ru-RU" sz="2000" b="1" spc="-10" dirty="0">
                <a:solidFill>
                  <a:srgbClr val="0230AC"/>
                </a:solidFill>
              </a:rPr>
              <a:t>событию</a:t>
            </a:r>
            <a:endParaRPr lang="ru-RU" sz="2000" b="1" dirty="0">
              <a:solidFill>
                <a:srgbClr val="0230A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DE9C4-0E0A-E2F6-21A9-3F6577568952}"/>
              </a:ext>
            </a:extLst>
          </p:cNvPr>
          <p:cNvSpPr txBox="1"/>
          <p:nvPr/>
        </p:nvSpPr>
        <p:spPr>
          <a:xfrm>
            <a:off x="236855" y="1114067"/>
            <a:ext cx="8835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4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1B305D2-83ED-9718-9275-EB4605712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534574"/>
              </p:ext>
            </p:extLst>
          </p:nvPr>
        </p:nvGraphicFramePr>
        <p:xfrm>
          <a:off x="236855" y="1544982"/>
          <a:ext cx="8532496" cy="3459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8547">
                  <a:extLst>
                    <a:ext uri="{9D8B030D-6E8A-4147-A177-3AD203B41FA5}">
                      <a16:colId xmlns:a16="http://schemas.microsoft.com/office/drawing/2014/main" val="2632153908"/>
                    </a:ext>
                  </a:extLst>
                </a:gridCol>
                <a:gridCol w="2768547">
                  <a:extLst>
                    <a:ext uri="{9D8B030D-6E8A-4147-A177-3AD203B41FA5}">
                      <a16:colId xmlns:a16="http://schemas.microsoft.com/office/drawing/2014/main" val="299894439"/>
                    </a:ext>
                  </a:extLst>
                </a:gridCol>
                <a:gridCol w="2995402">
                  <a:extLst>
                    <a:ext uri="{9D8B030D-6E8A-4147-A177-3AD203B41FA5}">
                      <a16:colId xmlns:a16="http://schemas.microsoft.com/office/drawing/2014/main" val="2867527667"/>
                    </a:ext>
                  </a:extLst>
                </a:gridCol>
              </a:tblGrid>
              <a:tr h="4577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Внешняя</a:t>
                      </a:r>
                      <a:r>
                        <a:rPr sz="2000" b="1" spc="-10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сущность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7E76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Входящие</a:t>
                      </a:r>
                      <a:r>
                        <a:rPr sz="2000" b="1" spc="-7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потоки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7E76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Исходящие</a:t>
                      </a:r>
                      <a:r>
                        <a:rPr sz="2000" b="1" spc="-9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en-US" sz="2000" b="1" spc="-1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ru-RU" sz="2000" b="1" spc="-1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потоки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7E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199567"/>
                  </a:ext>
                </a:extLst>
              </a:tr>
              <a:tr h="11115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+mj-lt"/>
                          <a:cs typeface="Times New Roman"/>
                        </a:rPr>
                        <a:t>Клиент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257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ru-RU" sz="2000" dirty="0">
                          <a:latin typeface="+mj-lt"/>
                          <a:cs typeface="Times New Roman"/>
                        </a:rPr>
                        <a:t>Трек-</a:t>
                      </a:r>
                      <a:r>
                        <a:rPr lang="ru-RU" sz="2000" dirty="0" err="1">
                          <a:latin typeface="+mj-lt"/>
                          <a:cs typeface="Times New Roman"/>
                        </a:rPr>
                        <a:t>номер,Возврат</a:t>
                      </a:r>
                      <a:r>
                        <a:rPr lang="ru-RU" sz="2000" dirty="0"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ru-RU" sz="2000" dirty="0" err="1">
                          <a:latin typeface="+mj-lt"/>
                          <a:cs typeface="Times New Roman"/>
                        </a:rPr>
                        <a:t>Средств,Фотоотчет</a:t>
                      </a:r>
                      <a:r>
                        <a:rPr lang="ru-RU" sz="2000" dirty="0"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ru-RU" sz="2000" dirty="0" err="1">
                          <a:latin typeface="+mj-lt"/>
                          <a:cs typeface="Times New Roman"/>
                        </a:rPr>
                        <a:t>изделия,Информация</a:t>
                      </a:r>
                      <a:r>
                        <a:rPr lang="ru-RU" sz="2000" dirty="0">
                          <a:latin typeface="+mj-lt"/>
                          <a:cs typeface="Times New Roman"/>
                        </a:rPr>
                        <a:t> о товаре(цена</a:t>
                      </a:r>
                      <a:r>
                        <a:rPr lang="en-US" sz="2000" dirty="0">
                          <a:latin typeface="+mj-lt"/>
                          <a:cs typeface="Times New Roman"/>
                        </a:rPr>
                        <a:t>/</a:t>
                      </a:r>
                      <a:r>
                        <a:rPr lang="ru-RU" sz="2000" dirty="0">
                          <a:latin typeface="+mj-lt"/>
                          <a:cs typeface="Times New Roman"/>
                        </a:rPr>
                        <a:t>срок)</a:t>
                      </a: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59105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Запрос на </a:t>
                      </a:r>
                      <a:r>
                        <a:rPr lang="ru-RU" sz="2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покупку,Предоплата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ru-RU" sz="2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Оплата,Обратная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 связь</a:t>
                      </a: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732981"/>
                  </a:ext>
                </a:extLst>
              </a:tr>
              <a:tr h="57228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000" spc="-10" dirty="0" err="1">
                          <a:latin typeface="+mj-lt"/>
                          <a:cs typeface="Times New Roman"/>
                        </a:rPr>
                        <a:t>Поставщик</a:t>
                      </a:r>
                      <a:r>
                        <a:rPr lang="ru-RU" sz="2000" spc="-10" dirty="0">
                          <a:latin typeface="+mj-lt"/>
                          <a:cs typeface="Times New Roman"/>
                        </a:rPr>
                        <a:t> материалов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lang="ru-RU" sz="2000" dirty="0">
                          <a:latin typeface="+mj-lt"/>
                          <a:cs typeface="Times New Roman"/>
                        </a:rPr>
                        <a:t>Заказ и оплата материалов 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lang="ru-RU" sz="2000" dirty="0">
                          <a:latin typeface="+mj-lt"/>
                          <a:cs typeface="Times New Roman"/>
                        </a:rPr>
                        <a:t>Материалы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348651"/>
                  </a:ext>
                </a:extLst>
              </a:tr>
              <a:tr h="7960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ru-RU" sz="2000" dirty="0">
                          <a:latin typeface="+mj-lt"/>
                          <a:cs typeface="Times New Roman"/>
                        </a:rPr>
                        <a:t>Служба доставки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ru-RU" sz="2000" spc="-10" dirty="0">
                          <a:latin typeface="+mj-lt"/>
                          <a:cs typeface="Times New Roman"/>
                        </a:rPr>
                        <a:t>Данные отправления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879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ru-RU" sz="2000" dirty="0">
                          <a:latin typeface="+mj-lt"/>
                          <a:cs typeface="Times New Roman"/>
                        </a:rPr>
                        <a:t>Статус доставки</a:t>
                      </a:r>
                      <a:endParaRPr sz="2000" dirty="0">
                        <a:latin typeface="+mj-lt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02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70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20D6A-B144-FD6E-7CA1-17D485E01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C149D6-488F-87FD-69AF-2FC2FCC353E9}"/>
              </a:ext>
            </a:extLst>
          </p:cNvPr>
          <p:cNvSpPr txBox="1"/>
          <p:nvPr/>
        </p:nvSpPr>
        <p:spPr>
          <a:xfrm>
            <a:off x="1225867" y="71369"/>
            <a:ext cx="6692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spc="-10" dirty="0">
                <a:solidFill>
                  <a:srgbClr val="0230AC"/>
                </a:solidFill>
              </a:rPr>
              <a:t>Задача</a:t>
            </a:r>
            <a:r>
              <a:rPr lang="ru-RU" sz="2000" b="1" spc="-15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№4:</a:t>
            </a:r>
            <a:r>
              <a:rPr lang="ru-RU" sz="2000" b="1" spc="-125" dirty="0">
                <a:solidFill>
                  <a:srgbClr val="0230AC"/>
                </a:solidFill>
              </a:rPr>
              <a:t> </a:t>
            </a:r>
            <a:r>
              <a:rPr lang="ru-RU" sz="2000" b="1" spc="-25" dirty="0">
                <a:solidFill>
                  <a:srgbClr val="0230AC"/>
                </a:solidFill>
              </a:rPr>
              <a:t>Контекстная</a:t>
            </a:r>
            <a:r>
              <a:rPr lang="ru-RU" sz="2000" b="1" spc="-10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диаграмма</a:t>
            </a:r>
            <a:r>
              <a:rPr lang="ru-RU" sz="2000" b="1" spc="-114" dirty="0">
                <a:solidFill>
                  <a:srgbClr val="0230AC"/>
                </a:solidFill>
              </a:rPr>
              <a:t> </a:t>
            </a:r>
            <a:r>
              <a:rPr lang="ru-RU" sz="2000" b="1" spc="-20" dirty="0">
                <a:solidFill>
                  <a:srgbClr val="0230AC"/>
                </a:solidFill>
              </a:rPr>
              <a:t>нулевого</a:t>
            </a:r>
            <a:r>
              <a:rPr lang="ru-RU" sz="2000" b="1" spc="-12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уровня</a:t>
            </a:r>
            <a:r>
              <a:rPr lang="ru-RU" sz="2000" b="1" spc="-125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(А-</a:t>
            </a:r>
            <a:r>
              <a:rPr lang="ru-RU" sz="2000" b="1" spc="-25" dirty="0">
                <a:solidFill>
                  <a:srgbClr val="0230AC"/>
                </a:solidFill>
              </a:rPr>
              <a:t>0)</a:t>
            </a:r>
            <a:endParaRPr lang="ru-RU" sz="2000" b="1" dirty="0">
              <a:solidFill>
                <a:srgbClr val="0230AC"/>
              </a:solidFill>
            </a:endParaRPr>
          </a:p>
        </p:txBody>
      </p:sp>
      <p:pic>
        <p:nvPicPr>
          <p:cNvPr id="5" name="Рисунок 4" descr="Изображение выглядит как текст, диаграмма, снимок экран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1339F3-B803-95E2-4601-FA6D43E64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88" y="620925"/>
            <a:ext cx="7279517" cy="4412926"/>
          </a:xfrm>
          <a:prstGeom prst="rect">
            <a:avLst/>
          </a:prstGeom>
        </p:spPr>
      </p:pic>
      <p:pic>
        <p:nvPicPr>
          <p:cNvPr id="9" name="Рисунок 8" descr="Изображение выглядит как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36F461-F149-0B77-CEF8-7BA0E1793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4" y="4037739"/>
            <a:ext cx="796674" cy="10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10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7A3E4-8AFB-1EA0-9084-76229129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2810BE-D41B-441E-DB6D-E1982C1E787E}"/>
              </a:ext>
            </a:extLst>
          </p:cNvPr>
          <p:cNvSpPr txBox="1"/>
          <p:nvPr/>
        </p:nvSpPr>
        <p:spPr>
          <a:xfrm>
            <a:off x="1557337" y="-40006"/>
            <a:ext cx="607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spc="-10" dirty="0">
                <a:solidFill>
                  <a:srgbClr val="0230AC"/>
                </a:solidFill>
              </a:rPr>
              <a:t>Задача</a:t>
            </a:r>
            <a:r>
              <a:rPr lang="ru-RU" b="1" spc="-114" dirty="0">
                <a:solidFill>
                  <a:srgbClr val="0230AC"/>
                </a:solidFill>
              </a:rPr>
              <a:t> </a:t>
            </a:r>
            <a:r>
              <a:rPr lang="ru-RU" b="1" dirty="0">
                <a:solidFill>
                  <a:srgbClr val="0230AC"/>
                </a:solidFill>
              </a:rPr>
              <a:t>№5:</a:t>
            </a:r>
            <a:r>
              <a:rPr lang="ru-RU" b="1" spc="-85" dirty="0">
                <a:solidFill>
                  <a:srgbClr val="0230AC"/>
                </a:solidFill>
              </a:rPr>
              <a:t> </a:t>
            </a:r>
            <a:r>
              <a:rPr lang="ru-RU" b="1" dirty="0">
                <a:solidFill>
                  <a:srgbClr val="0230AC"/>
                </a:solidFill>
              </a:rPr>
              <a:t>Связи</a:t>
            </a:r>
            <a:r>
              <a:rPr lang="ru-RU" b="1" spc="-75" dirty="0">
                <a:solidFill>
                  <a:srgbClr val="0230AC"/>
                </a:solidFill>
              </a:rPr>
              <a:t> </a:t>
            </a:r>
            <a:r>
              <a:rPr lang="ru-RU" b="1" dirty="0">
                <a:solidFill>
                  <a:srgbClr val="0230AC"/>
                </a:solidFill>
              </a:rPr>
              <a:t>по</a:t>
            </a:r>
            <a:r>
              <a:rPr lang="ru-RU" b="1" spc="-95" dirty="0">
                <a:solidFill>
                  <a:srgbClr val="0230AC"/>
                </a:solidFill>
              </a:rPr>
              <a:t> </a:t>
            </a:r>
            <a:r>
              <a:rPr lang="ru-RU" b="1" spc="-20" dirty="0">
                <a:solidFill>
                  <a:srgbClr val="0230AC"/>
                </a:solidFill>
              </a:rPr>
              <a:t>потокам</a:t>
            </a:r>
            <a:r>
              <a:rPr lang="ru-RU" b="1" spc="-85" dirty="0">
                <a:solidFill>
                  <a:srgbClr val="0230AC"/>
                </a:solidFill>
              </a:rPr>
              <a:t> </a:t>
            </a:r>
            <a:r>
              <a:rPr lang="ru-RU" b="1" dirty="0">
                <a:solidFill>
                  <a:srgbClr val="0230AC"/>
                </a:solidFill>
              </a:rPr>
              <a:t>данных</a:t>
            </a:r>
            <a:r>
              <a:rPr lang="ru-RU" b="1" spc="-80" dirty="0">
                <a:solidFill>
                  <a:srgbClr val="0230AC"/>
                </a:solidFill>
              </a:rPr>
              <a:t> </a:t>
            </a:r>
            <a:r>
              <a:rPr lang="ru-RU" b="1" spc="-10" dirty="0">
                <a:solidFill>
                  <a:srgbClr val="0230AC"/>
                </a:solidFill>
              </a:rPr>
              <a:t>между сущностями,</a:t>
            </a:r>
            <a:r>
              <a:rPr lang="ru-RU" b="1" spc="-130" dirty="0">
                <a:solidFill>
                  <a:srgbClr val="0230AC"/>
                </a:solidFill>
              </a:rPr>
              <a:t> </a:t>
            </a:r>
            <a:r>
              <a:rPr lang="ru-RU" b="1" dirty="0">
                <a:solidFill>
                  <a:srgbClr val="0230AC"/>
                </a:solidFill>
              </a:rPr>
              <a:t>событиями,</a:t>
            </a:r>
            <a:r>
              <a:rPr lang="ru-RU" b="1" spc="-130" dirty="0">
                <a:solidFill>
                  <a:srgbClr val="0230AC"/>
                </a:solidFill>
              </a:rPr>
              <a:t> </a:t>
            </a:r>
            <a:r>
              <a:rPr lang="ru-RU" b="1" spc="-10" dirty="0">
                <a:solidFill>
                  <a:srgbClr val="0230AC"/>
                </a:solidFill>
              </a:rPr>
              <a:t>накопителями</a:t>
            </a:r>
            <a:r>
              <a:rPr lang="ru-RU" b="1" spc="-120" dirty="0">
                <a:solidFill>
                  <a:srgbClr val="0230AC"/>
                </a:solidFill>
              </a:rPr>
              <a:t> </a:t>
            </a:r>
            <a:r>
              <a:rPr lang="ru-RU" b="1" spc="-10" dirty="0">
                <a:solidFill>
                  <a:srgbClr val="0230AC"/>
                </a:solidFill>
              </a:rPr>
              <a:t>данных</a:t>
            </a:r>
            <a:endParaRPr lang="ru-RU" b="1" dirty="0">
              <a:solidFill>
                <a:srgbClr val="0230AC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AB35507-D518-FBBE-01C0-E9CA2AB87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4151"/>
              </p:ext>
            </p:extLst>
          </p:nvPr>
        </p:nvGraphicFramePr>
        <p:xfrm>
          <a:off x="274417" y="871669"/>
          <a:ext cx="8329614" cy="3400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231">
                  <a:extLst>
                    <a:ext uri="{9D8B030D-6E8A-4147-A177-3AD203B41FA5}">
                      <a16:colId xmlns:a16="http://schemas.microsoft.com/office/drawing/2014/main" val="1784897680"/>
                    </a:ext>
                  </a:extLst>
                </a:gridCol>
                <a:gridCol w="2232142">
                  <a:extLst>
                    <a:ext uri="{9D8B030D-6E8A-4147-A177-3AD203B41FA5}">
                      <a16:colId xmlns:a16="http://schemas.microsoft.com/office/drawing/2014/main" val="931924407"/>
                    </a:ext>
                  </a:extLst>
                </a:gridCol>
                <a:gridCol w="2994264">
                  <a:extLst>
                    <a:ext uri="{9D8B030D-6E8A-4147-A177-3AD203B41FA5}">
                      <a16:colId xmlns:a16="http://schemas.microsoft.com/office/drawing/2014/main" val="1844410183"/>
                    </a:ext>
                  </a:extLst>
                </a:gridCol>
                <a:gridCol w="2558977">
                  <a:extLst>
                    <a:ext uri="{9D8B030D-6E8A-4147-A177-3AD203B41FA5}">
                      <a16:colId xmlns:a16="http://schemas.microsoft.com/office/drawing/2014/main" val="2150039570"/>
                    </a:ext>
                  </a:extLst>
                </a:gridCol>
              </a:tblGrid>
              <a:tr h="36734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№</a:t>
                      </a:r>
                      <a:endParaRPr lang="ru-RU"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7E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Название</a:t>
                      </a:r>
                      <a:r>
                        <a:rPr lang="ru-RU" sz="1000" b="1" spc="-5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процесса</a:t>
                      </a:r>
                      <a:endParaRPr lang="ru-RU"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7E76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ru-RU" sz="1000" b="1" kern="1200" spc="-25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Times New Roman"/>
                        </a:rPr>
                        <a:t>Входящие</a:t>
                      </a:r>
                      <a:r>
                        <a:rPr lang="ru-RU" sz="1000" b="1" kern="1200" spc="-75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ru-RU" sz="1000" b="1" kern="1200" spc="-1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Times New Roman"/>
                        </a:rPr>
                        <a:t>потоки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7E761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ru-RU" sz="1000" b="1" kern="1200" spc="-2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Times New Roman"/>
                        </a:rPr>
                        <a:t>Исходящие</a:t>
                      </a:r>
                      <a:r>
                        <a:rPr lang="ru-RU" sz="1000" b="1" kern="1200" spc="-95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ru-RU" sz="1000" b="1" kern="1200" spc="-1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Times New Roman"/>
                        </a:rPr>
                        <a:t> потоки</a:t>
                      </a:r>
                      <a:endParaRPr lang="ru-RU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7E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61625"/>
                  </a:ext>
                </a:extLst>
              </a:tr>
              <a:tr h="94787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spc="-25">
                          <a:latin typeface="Times New Roman"/>
                          <a:cs typeface="Times New Roman"/>
                        </a:rPr>
                        <a:t>1.0</a:t>
                      </a:r>
                      <a:endParaRPr lang="ru-RU"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spc="-10" dirty="0">
                          <a:latin typeface="+mn-lt"/>
                          <a:cs typeface="Calibri"/>
                        </a:rPr>
                        <a:t>Работа с обращениями ( Н )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lang="ru-RU" sz="1000" dirty="0">
                          <a:latin typeface="Calibri"/>
                          <a:cs typeface="Calibri"/>
                        </a:rPr>
                        <a:t>Сроки и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стоимость,Регламент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и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цены,Запрос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на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покупку,Информация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о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наличии,Обратаная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связь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196215" marR="187325" indent="-635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Calibri"/>
                          <a:cs typeface="Calibri"/>
                        </a:rPr>
                        <a:t>Информация о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товаре,Запрос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на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согласование,Данные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о заказе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20511"/>
                  </a:ext>
                </a:extLst>
              </a:tr>
              <a:tr h="7424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ru-RU" sz="1000">
                          <a:latin typeface="Times New Roman"/>
                          <a:cs typeface="Times New Roman"/>
                        </a:rPr>
                        <a:t>2.0</a:t>
                      </a:r>
                      <a:endParaRPr lang="ru-RU"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Calibri"/>
                          <a:cs typeface="Calibri"/>
                        </a:rPr>
                        <a:t>Изготовление украшений ( А )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ru-RU" sz="1000" dirty="0" err="1">
                          <a:latin typeface="Calibri"/>
                          <a:cs typeface="Calibri"/>
                        </a:rPr>
                        <a:t>Материалы,Регламент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цен,Запрос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на согласование 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lang="ru-RU" sz="1000" dirty="0">
                          <a:latin typeface="Calibri"/>
                          <a:cs typeface="Calibri"/>
                        </a:rPr>
                        <a:t>Заявка на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материалы,Готовое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изделие+фото,Сроки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и стоимость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91677"/>
                  </a:ext>
                </a:extLst>
              </a:tr>
              <a:tr h="4831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ru-RU" sz="1000">
                          <a:latin typeface="Times New Roman"/>
                          <a:cs typeface="Times New Roman"/>
                        </a:rPr>
                        <a:t>3.0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spc="-10" dirty="0">
                          <a:latin typeface="+mn-lt"/>
                          <a:cs typeface="Calibri"/>
                        </a:rPr>
                        <a:t>Закупка материалов ( А )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353060" marR="345440" indent="603250"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lang="ru-RU" sz="1000" dirty="0">
                          <a:latin typeface="Calibri"/>
                          <a:cs typeface="Calibri"/>
                        </a:rPr>
                        <a:t>Заявка на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материалы,Средства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на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закупку,Материалы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73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ru-RU" sz="1000" dirty="0">
                          <a:latin typeface="Calibri"/>
                          <a:cs typeface="Calibri"/>
                        </a:rPr>
                        <a:t>Заказ и оплата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материалов,Поступление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материалов,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918597"/>
                  </a:ext>
                </a:extLst>
              </a:tr>
              <a:tr h="859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4.0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9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spc="-10" dirty="0">
                          <a:latin typeface="+mn-lt"/>
                          <a:cs typeface="Calibri"/>
                        </a:rPr>
                        <a:t>Логистика и финансы ( Н )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829944" marR="822325" indent="405130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Calibri"/>
                          <a:cs typeface="Calibri"/>
                        </a:rPr>
                        <a:t>Средства на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возрат,Готовое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изделие+фото,Статус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доставки,Предоплата</a:t>
                      </a:r>
                      <a:r>
                        <a:rPr lang="en-US" sz="10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Оплата,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tc>
                  <a:txBody>
                    <a:bodyPr/>
                    <a:lstStyle/>
                    <a:p>
                      <a:pPr marL="926465" marR="271145" indent="-647700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Calibri"/>
                          <a:cs typeface="Calibri"/>
                        </a:rPr>
                        <a:t>Трек-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Номер,Зачисление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Оплаты,Фотоотчет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изделия,Возврат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ru-RU" sz="1000" dirty="0" err="1">
                          <a:latin typeface="Calibri"/>
                          <a:cs typeface="Calibri"/>
                        </a:rPr>
                        <a:t>средств,Данные</a:t>
                      </a:r>
                      <a:r>
                        <a:rPr lang="ru-RU" sz="1000" dirty="0">
                          <a:latin typeface="Calibri"/>
                          <a:cs typeface="Calibri"/>
                        </a:rPr>
                        <a:t> отправления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3E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974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905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FCDA2-ED7B-2082-FCBA-D116DE22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511491-D318-AF94-7E10-31366DDFB64F}"/>
              </a:ext>
            </a:extLst>
          </p:cNvPr>
          <p:cNvSpPr txBox="1"/>
          <p:nvPr/>
        </p:nvSpPr>
        <p:spPr>
          <a:xfrm>
            <a:off x="1506855" y="110490"/>
            <a:ext cx="6130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spc="-10" dirty="0">
                <a:solidFill>
                  <a:srgbClr val="0230AC"/>
                </a:solidFill>
              </a:rPr>
              <a:t>Задача</a:t>
            </a:r>
            <a:r>
              <a:rPr lang="ru-RU" sz="2000" b="1" spc="-14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№6:</a:t>
            </a:r>
            <a:r>
              <a:rPr lang="ru-RU" sz="2000" b="1" spc="-114" dirty="0">
                <a:solidFill>
                  <a:srgbClr val="0230AC"/>
                </a:solidFill>
              </a:rPr>
              <a:t> </a:t>
            </a:r>
            <a:r>
              <a:rPr lang="ru-RU" sz="2000" b="1" spc="-25" dirty="0">
                <a:solidFill>
                  <a:srgbClr val="0230AC"/>
                </a:solidFill>
              </a:rPr>
              <a:t>Контекстная</a:t>
            </a:r>
            <a:r>
              <a:rPr lang="ru-RU" sz="2000" b="1" spc="-90" dirty="0">
                <a:solidFill>
                  <a:srgbClr val="0230AC"/>
                </a:solidFill>
              </a:rPr>
              <a:t> </a:t>
            </a:r>
            <a:r>
              <a:rPr lang="ru-RU" sz="2000" b="1" dirty="0">
                <a:solidFill>
                  <a:srgbClr val="0230AC"/>
                </a:solidFill>
              </a:rPr>
              <a:t>диаграмма</a:t>
            </a:r>
            <a:r>
              <a:rPr lang="ru-RU" sz="2000" b="1" spc="-105" dirty="0">
                <a:solidFill>
                  <a:srgbClr val="0230AC"/>
                </a:solidFill>
              </a:rPr>
              <a:t> </a:t>
            </a:r>
            <a:r>
              <a:rPr lang="ru-RU" sz="2000" b="1" spc="-20" dirty="0">
                <a:solidFill>
                  <a:srgbClr val="0230AC"/>
                </a:solidFill>
              </a:rPr>
              <a:t>(А0)</a:t>
            </a:r>
            <a:endParaRPr lang="ru-RU" sz="2000" b="1" dirty="0">
              <a:solidFill>
                <a:srgbClr val="0230AC"/>
              </a:solidFill>
            </a:endParaRPr>
          </a:p>
        </p:txBody>
      </p:sp>
      <p:pic>
        <p:nvPicPr>
          <p:cNvPr id="5" name="Рисунок 4" descr="Изображение выглядит как текст, диаграмма, План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EA936A-4331-8506-262E-951111971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0" y="710697"/>
            <a:ext cx="6941976" cy="42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5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2496-E2FE-3714-C779-C97A1106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E9EA91-25AE-92B8-2CE9-7B9629B62AF2}"/>
              </a:ext>
            </a:extLst>
          </p:cNvPr>
          <p:cNvSpPr txBox="1"/>
          <p:nvPr/>
        </p:nvSpPr>
        <p:spPr>
          <a:xfrm>
            <a:off x="3754755" y="560070"/>
            <a:ext cx="6130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spc="-10" dirty="0">
                <a:solidFill>
                  <a:srgbClr val="0230AC"/>
                </a:solidFill>
              </a:rPr>
              <a:t>Вывод</a:t>
            </a:r>
            <a:endParaRPr lang="ru-RU" sz="2800" b="1" dirty="0">
              <a:solidFill>
                <a:srgbClr val="0230A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78B20-9801-7104-6904-D84D7E3D0706}"/>
              </a:ext>
            </a:extLst>
          </p:cNvPr>
          <p:cNvSpPr txBox="1"/>
          <p:nvPr/>
        </p:nvSpPr>
        <p:spPr>
          <a:xfrm>
            <a:off x="0" y="1294812"/>
            <a:ext cx="8835390" cy="288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AutoNum type="arabicPeriod"/>
              <a:tabLst>
                <a:tab pos="469265" algn="l"/>
              </a:tabLst>
            </a:pP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Разработана</a:t>
            </a:r>
            <a:r>
              <a:rPr lang="ru-RU" sz="1400" spc="-7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функциональная</a:t>
            </a:r>
            <a:r>
              <a:rPr lang="ru-RU" sz="1400" spc="-1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модель</a:t>
            </a:r>
            <a:r>
              <a:rPr lang="ru-RU" sz="1400" spc="-6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АИС</a:t>
            </a:r>
            <a:r>
              <a:rPr lang="ru-RU" sz="1400" spc="-6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для</a:t>
            </a:r>
            <a:r>
              <a:rPr lang="ru-RU" sz="1400" spc="-9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latin typeface="+mj-lt"/>
              </a:rPr>
              <a:t>Интернет-магазина украшений “</a:t>
            </a:r>
            <a:r>
              <a:rPr lang="en-US" sz="1400" dirty="0">
                <a:latin typeface="+mj-lt"/>
              </a:rPr>
              <a:t>Sapfire Leaf”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Определено</a:t>
            </a:r>
            <a:r>
              <a:rPr lang="ru-RU" sz="14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основное</a:t>
            </a:r>
            <a:r>
              <a:rPr lang="ru-RU" sz="1400" spc="-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назначение</a:t>
            </a:r>
            <a:endParaRPr lang="ru-RU" sz="1400" dirty="0">
              <a:latin typeface="+mj-lt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Clr>
                <a:srgbClr val="000000"/>
              </a:buClr>
              <a:buAutoNum type="arabicPeriod"/>
              <a:tabLst>
                <a:tab pos="469265" algn="l"/>
              </a:tabLst>
            </a:pP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Определен</a:t>
            </a:r>
            <a:r>
              <a:rPr lang="ru-RU" sz="1400" spc="-4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основной</a:t>
            </a:r>
            <a:r>
              <a:rPr lang="ru-RU" sz="1400" spc="-2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процесс</a:t>
            </a:r>
            <a:r>
              <a:rPr lang="ru-RU" sz="1400" spc="-4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и</a:t>
            </a:r>
            <a:r>
              <a:rPr lang="ru-RU" sz="1400" spc="-4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внешние</a:t>
            </a:r>
            <a:r>
              <a:rPr lang="ru-RU" sz="14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сущности</a:t>
            </a:r>
            <a:r>
              <a:rPr lang="ru-RU" sz="1400" spc="-5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к</a:t>
            </a:r>
            <a:r>
              <a:rPr lang="ru-RU" sz="1400" spc="-4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20" dirty="0">
                <a:solidFill>
                  <a:srgbClr val="252525"/>
                </a:solidFill>
                <a:latin typeface="+mj-lt"/>
                <a:cs typeface="Times New Roman"/>
              </a:rPr>
              <a:t>нему</a:t>
            </a:r>
            <a:endParaRPr lang="ru-RU" sz="1400" dirty="0">
              <a:latin typeface="+mj-lt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AutoNum type="arabicPeriod"/>
              <a:tabLst>
                <a:tab pos="469265" algn="l"/>
              </a:tabLst>
            </a:pP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Составлена</a:t>
            </a:r>
            <a:r>
              <a:rPr lang="ru-RU" sz="1400" spc="-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таблица</a:t>
            </a:r>
            <a:r>
              <a:rPr lang="ru-RU" sz="1400" spc="-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взаимоотношения</a:t>
            </a:r>
            <a:r>
              <a:rPr lang="ru-RU" sz="1400" spc="-1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внешних</a:t>
            </a:r>
            <a:r>
              <a:rPr lang="ru-RU" sz="14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сущностей</a:t>
            </a:r>
            <a:r>
              <a:rPr lang="ru-RU" sz="1400" spc="-6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</a:t>
            </a:r>
            <a:r>
              <a:rPr lang="ru-RU" sz="14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основным</a:t>
            </a:r>
            <a:endParaRPr lang="ru-RU" sz="1400" dirty="0">
              <a:latin typeface="+mj-lt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потоком</a:t>
            </a:r>
            <a:endParaRPr lang="ru-RU" sz="1400" dirty="0">
              <a:latin typeface="+mj-lt"/>
              <a:cs typeface="Times New Roman"/>
            </a:endParaRPr>
          </a:p>
          <a:p>
            <a:pPr marL="469900" marR="666115" indent="-457200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AutoNum type="arabicPeriod" startAt="5"/>
              <a:tabLst>
                <a:tab pos="469900" algn="l"/>
              </a:tabLst>
            </a:pP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Составлена</a:t>
            </a:r>
            <a:r>
              <a:rPr lang="ru-RU" sz="1400" spc="-6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таблица</a:t>
            </a:r>
            <a:r>
              <a:rPr lang="ru-RU" sz="1400" spc="-6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анализа</a:t>
            </a:r>
            <a:r>
              <a:rPr lang="ru-RU" sz="1400" spc="-7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событий</a:t>
            </a:r>
            <a:r>
              <a:rPr lang="ru-RU" sz="1400" spc="-7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</a:t>
            </a:r>
            <a:r>
              <a:rPr lang="ru-RU" sz="1400" spc="-7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связями</a:t>
            </a:r>
            <a:r>
              <a:rPr lang="ru-RU" sz="1400" spc="-6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по</a:t>
            </a:r>
            <a:r>
              <a:rPr lang="ru-RU" sz="1400" spc="-7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потокам</a:t>
            </a:r>
            <a:r>
              <a:rPr lang="ru-RU" sz="1400" spc="-6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данных</a:t>
            </a:r>
            <a:r>
              <a:rPr lang="ru-RU" sz="1400" spc="-6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между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сущностями,</a:t>
            </a:r>
            <a:r>
              <a:rPr lang="ru-RU" sz="1400" spc="-10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событиями,</a:t>
            </a:r>
            <a:r>
              <a:rPr lang="ru-RU" sz="1400" spc="-7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накопителями</a:t>
            </a:r>
            <a:r>
              <a:rPr lang="ru-RU" sz="1400" spc="-8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данных</a:t>
            </a:r>
            <a:endParaRPr lang="ru-RU" sz="1400" dirty="0">
              <a:latin typeface="+mj-lt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Clr>
                <a:srgbClr val="000000"/>
              </a:buClr>
              <a:buAutoNum type="arabicPeriod" startAt="5"/>
              <a:tabLst>
                <a:tab pos="469265" algn="l"/>
              </a:tabLst>
            </a:pP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Составлены </a:t>
            </a:r>
            <a:r>
              <a:rPr lang="ru-RU" sz="1400" spc="-20" dirty="0">
                <a:solidFill>
                  <a:srgbClr val="252525"/>
                </a:solidFill>
                <a:latin typeface="+mj-lt"/>
                <a:cs typeface="Times New Roman"/>
              </a:rPr>
              <a:t>контекстные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диаграммы</a:t>
            </a:r>
            <a:r>
              <a:rPr lang="ru-RU" sz="1400" spc="-13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25" dirty="0">
                <a:solidFill>
                  <a:srgbClr val="252525"/>
                </a:solidFill>
                <a:latin typeface="+mj-lt"/>
                <a:cs typeface="Times New Roman"/>
              </a:rPr>
              <a:t>A-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0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и</a:t>
            </a:r>
            <a:r>
              <a:rPr lang="ru-RU" sz="1400" spc="-15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25" dirty="0">
                <a:solidFill>
                  <a:srgbClr val="252525"/>
                </a:solidFill>
                <a:latin typeface="+mj-lt"/>
                <a:cs typeface="Times New Roman"/>
              </a:rPr>
              <a:t>A0</a:t>
            </a:r>
            <a:endParaRPr lang="ru-RU" sz="1400" dirty="0">
              <a:latin typeface="+mj-lt"/>
              <a:cs typeface="Times New Roman"/>
            </a:endParaRPr>
          </a:p>
          <a:p>
            <a:pPr marL="469900" marR="1111250" indent="-457200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AutoNum type="arabicPeriod" startAt="5"/>
              <a:tabLst>
                <a:tab pos="469900" algn="l"/>
              </a:tabLst>
            </a:pPr>
            <a:r>
              <a:rPr lang="ru-RU" sz="1400" spc="-20" dirty="0">
                <a:solidFill>
                  <a:srgbClr val="252525"/>
                </a:solidFill>
                <a:latin typeface="+mj-lt"/>
                <a:cs typeface="Times New Roman"/>
              </a:rPr>
              <a:t>Модель</a:t>
            </a:r>
            <a:r>
              <a:rPr lang="ru-RU" sz="1400" spc="-8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соответствует</a:t>
            </a:r>
            <a:r>
              <a:rPr lang="ru-RU" sz="1400" spc="-8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методологии</a:t>
            </a:r>
            <a:r>
              <a:rPr lang="ru-RU" sz="1400" spc="-5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DFD</a:t>
            </a:r>
            <a:r>
              <a:rPr lang="ru-RU" sz="1400" spc="-7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и</a:t>
            </a:r>
            <a:r>
              <a:rPr lang="ru-RU" sz="1400" spc="-9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может</a:t>
            </a:r>
            <a:r>
              <a:rPr lang="ru-RU" sz="1400" spc="-8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служить</a:t>
            </a:r>
            <a:r>
              <a:rPr lang="ru-RU" sz="1400" spc="-9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dirty="0">
                <a:solidFill>
                  <a:srgbClr val="252525"/>
                </a:solidFill>
                <a:latin typeface="+mj-lt"/>
                <a:cs typeface="Times New Roman"/>
              </a:rPr>
              <a:t>основой</a:t>
            </a:r>
            <a:r>
              <a:rPr lang="ru-RU" sz="1400" spc="-8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25" dirty="0">
                <a:solidFill>
                  <a:srgbClr val="252525"/>
                </a:solidFill>
                <a:latin typeface="+mj-lt"/>
                <a:cs typeface="Times New Roman"/>
              </a:rPr>
              <a:t>для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дальнейшего</a:t>
            </a:r>
            <a:r>
              <a:rPr lang="ru-RU" sz="1400" spc="-7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lang="ru-RU" sz="1400" spc="-10" dirty="0">
                <a:solidFill>
                  <a:srgbClr val="252525"/>
                </a:solidFill>
                <a:latin typeface="+mj-lt"/>
                <a:cs typeface="Times New Roman"/>
              </a:rPr>
              <a:t>проектирования</a:t>
            </a:r>
            <a:endParaRPr lang="ru-RU" sz="1400" dirty="0">
              <a:latin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022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0037"/>
            <a:ext cx="8229600" cy="620483"/>
          </a:xfrm>
        </p:spPr>
        <p:txBody>
          <a:bodyPr/>
          <a:lstStyle/>
          <a:p>
            <a:r>
              <a:rPr lang="ru-RU" dirty="0"/>
              <a:t>Спасибо за внимание</a:t>
            </a:r>
            <a:r>
              <a:rPr lang="en-US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2490643"/>
            <a:ext cx="8229600" cy="594122"/>
          </a:xfrm>
        </p:spPr>
        <p:txBody>
          <a:bodyPr/>
          <a:lstStyle/>
          <a:p>
            <a:endParaRPr lang="en-US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Custom 1">
      <a:dk1>
        <a:srgbClr val="0230AC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over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14566</TotalTime>
  <Words>654</Words>
  <Application>Microsoft Office PowerPoint</Application>
  <PresentationFormat>Экран (16:9)</PresentationFormat>
  <Paragraphs>103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Times New Roman</vt:lpstr>
      <vt:lpstr>Cover</vt:lpstr>
      <vt:lpstr>1_Cover</vt:lpstr>
      <vt:lpstr>Проектирование функциональной модели АИС</vt:lpstr>
      <vt:lpstr>Предметная область:  Интернет - магазин украшений  “Sapfire Leaf”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иван дерягин</cp:lastModifiedBy>
  <cp:revision>50</cp:revision>
  <dcterms:created xsi:type="dcterms:W3CDTF">2014-06-27T12:30:22Z</dcterms:created>
  <dcterms:modified xsi:type="dcterms:W3CDTF">2026-01-21T12:43:50Z</dcterms:modified>
</cp:coreProperties>
</file>